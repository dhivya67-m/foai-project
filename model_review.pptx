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71" r:id="rId7"/>
    <p:sldId id="274" r:id="rId8"/>
    <p:sldId id="272" r:id="rId9"/>
    <p:sldId id="273" r:id="rId10"/>
    <p:sldId id="260" r:id="rId11"/>
    <p:sldId id="268" r:id="rId12"/>
    <p:sldId id="275" r:id="rId13"/>
    <p:sldId id="261" r:id="rId14"/>
    <p:sldId id="262" r:id="rId15"/>
    <p:sldId id="276" r:id="rId16"/>
    <p:sldId id="277" r:id="rId17"/>
    <p:sldId id="278" r:id="rId18"/>
    <p:sldId id="279" r:id="rId19"/>
    <p:sldId id="263" r:id="rId20"/>
    <p:sldId id="270" r:id="rId21"/>
    <p:sldId id="264" r:id="rId22"/>
    <p:sldId id="265" r:id="rId23"/>
    <p:sldId id="266" r:id="rId24"/>
    <p:sldId id="267" r:id="rId25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47" d="100"/>
          <a:sy n="47" d="100"/>
        </p:scale>
        <p:origin x="-2035" y="-8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8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flask.palletsprojects.com/" TargetMode="External"/><Relationship Id="rId2" Type="http://schemas.openxmlformats.org/officeDocument/2006/relationships/hyperlink" Target="https://networkx.org/documentation/stable/" TargetMode="External"/><Relationship Id="rId1" Type="http://schemas.openxmlformats.org/officeDocument/2006/relationships/hyperlink" Target="https://www.openstreetmap.org/copyright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b="1" dirty="0">
              <a:solidFill>
                <a:srgbClr val="7030A0"/>
              </a:solidFill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r>
              <a:rPr lang="en-US" sz="4000" b="1" dirty="0">
                <a:solidFill>
                  <a:srgbClr val="7030A0"/>
                </a:solidFill>
                <a:ea typeface="Verdana" panose="020B0604030504040204"/>
                <a:cs typeface="Verdana" panose="020B0604030504040204"/>
                <a:sym typeface="Verdana" panose="020B0604030504040204"/>
              </a:rPr>
              <a:t>AI POWERED EMERGENCY EVACUATION ROUTE PLANNING SYSTEM </a:t>
            </a:r>
            <a:endParaRPr lang="en-IN" sz="4000" b="1" dirty="0">
              <a:solidFill>
                <a:srgbClr val="7030A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946060" y="5013176"/>
            <a:ext cx="572472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ts val="0"/>
              </a:spcBef>
              <a:buClr>
                <a:srgbClr val="FF0000"/>
              </a:buClr>
              <a:buSzPts val="2400"/>
              <a:buNone/>
            </a:pP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SUPERVISOR</a:t>
            </a:r>
            <a:endParaRPr lang="en-US"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0"/>
              </a:spcBef>
              <a:buClr>
                <a:srgbClr val="FF0000"/>
              </a:buClr>
              <a:buSzPts val="2400"/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Dr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 </a:t>
            </a:r>
            <a:r>
              <a:rPr lang="en-US" sz="2400" b="1" dirty="0" err="1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S.Bhuvana</a:t>
            </a: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Ph</a:t>
            </a: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.D</a:t>
            </a:r>
            <a:r>
              <a:rPr lang="en-IN" alt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</a:t>
            </a:r>
            <a:endParaRPr lang="en-US"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0"/>
              </a:spcBef>
              <a:buClr>
                <a:srgbClr val="FF0000"/>
              </a:buClr>
              <a:buSzPts val="2400"/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ASSISTANT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PROFESSOR (SG)</a:t>
            </a:r>
            <a:endParaRPr lang="en-US"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104112" y="5183902"/>
            <a:ext cx="446449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2400" b="1" dirty="0" smtClean="0">
                <a:solidFill>
                  <a:srgbClr val="FF0000"/>
                </a:solidFill>
              </a:rPr>
              <a:t>STUDENTS</a:t>
            </a:r>
            <a:endParaRPr lang="en-GB" altLang="en-US" sz="2400" b="1" dirty="0" smtClean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2400" b="1" dirty="0" err="1" smtClean="0">
                <a:solidFill>
                  <a:srgbClr val="FF0000"/>
                </a:solidFill>
              </a:rPr>
              <a:t>Dharani</a:t>
            </a:r>
            <a:r>
              <a:rPr lang="en-GB" altLang="en-US" sz="2400" b="1" dirty="0" smtClean="0">
                <a:solidFill>
                  <a:srgbClr val="FF0000"/>
                </a:solidFill>
              </a:rPr>
              <a:t> </a:t>
            </a:r>
            <a:r>
              <a:rPr lang="en-GB" altLang="en-US" sz="2400" b="1" dirty="0" smtClean="0">
                <a:solidFill>
                  <a:srgbClr val="FF0000"/>
                </a:solidFill>
              </a:rPr>
              <a:t>K – 241901025</a:t>
            </a:r>
            <a:endParaRPr lang="en-GB" altLang="en-US" sz="2400" b="1" dirty="0" smtClean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2400" b="1" dirty="0" err="1" smtClean="0">
                <a:solidFill>
                  <a:srgbClr val="FF0000"/>
                </a:solidFill>
              </a:rPr>
              <a:t>Dhivya</a:t>
            </a:r>
            <a:r>
              <a:rPr lang="en-GB" altLang="en-US" sz="2400" b="1" dirty="0" smtClean="0">
                <a:solidFill>
                  <a:srgbClr val="FF0000"/>
                </a:solidFill>
              </a:rPr>
              <a:t> M - 241901027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  <a:endParaRPr lang="en-IN" sz="2400" b="1" dirty="0">
              <a:solidFill>
                <a:srgbClr val="C00000"/>
              </a:solidFill>
              <a:latin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810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During emergencies such as floods and road blockages, finding a safe evacuation route becomes difficult.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People, emergency responders, and rescue teams may face delays due to hazardous roads.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Normal route planning may not adequately account for blocked or flooded roads.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project uses </a:t>
            </a:r>
            <a:r>
              <a:rPr lang="en-GB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the A* Search Algorithm to identify safe alternate routes by avoiding hazardous roads.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main motivation is to improve evacuation route planning and help people make safer decisions during emergencies.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810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 a Chennai road network using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data.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Apply the A* algorithm to calculate evacuation routes and distances.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 hazard-aware rerouting by avoiding blocked roads.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Visualize routes, hazardous roads, and alternate paths on an interactive map.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Completed: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Road network integration, A*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pathfinding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hazard-based rerouting, and Flask–Leaflet map integration.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416" y="404664"/>
            <a:ext cx="10668000" cy="1216025"/>
          </a:xfrm>
        </p:spPr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develops an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Emergency Evacuation Route Planning System for Chennai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road-network data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allows users to select source and destination locations and calculates the shortest available route using the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Search Algorithm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and flooded roads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hazard information maintained in a CSV file. When a road is marked as hazardous, the system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the affected road segment and recalculates an alternative route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whenever a valid path is available.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calculated route, identified hazards, and travel distance are displayed through an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web map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is developed using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Flask, </a:t>
            </a: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OSMnx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Leaflet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road-network processing, route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Clr>
                <a:srgbClr val="CC0000"/>
              </a:buClr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392" y="1752600"/>
          <a:ext cx="11089233" cy="466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"/>
                <a:gridCol w="1928929"/>
                <a:gridCol w="3205166"/>
                <a:gridCol w="2554843"/>
                <a:gridCol w="3112263"/>
              </a:tblGrid>
              <a:tr h="101354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S. No.</a:t>
                      </a:r>
                      <a:endParaRPr sz="2000" dirty="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1</a:t>
                      </a:r>
                      <a:endParaRPr sz="180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da-DK" sz="1800" dirty="0" smtClean="0"/>
                        <a:t>Taeyoung Choe et al. (2023)</a:t>
                      </a:r>
                      <a:endParaRPr lang="da-DK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Complex Disaster Response Framework to Reduce Urban Disaster Vulnerability </a:t>
                      </a:r>
                      <a:r>
                        <a:rPr lang="en-GB" sz="1800" dirty="0"/>
                        <a:t>.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u="none" strike="noStrike" cap="none" dirty="0" smtClean="0"/>
                        <a:t>M</a:t>
                      </a:r>
                      <a:r>
                        <a:rPr lang="en-GB" sz="1800" dirty="0" smtClean="0"/>
                        <a:t>ultilayer road network and evacuation route planning </a:t>
                      </a:r>
                      <a:r>
                        <a:rPr lang="en-GB" sz="1800" dirty="0"/>
                        <a:t>.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Depends on accurate disaster and road-network information.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2</a:t>
                      </a:r>
                      <a:endParaRPr sz="180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 err="1" smtClean="0"/>
                        <a:t>Arief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Rahman</a:t>
                      </a:r>
                      <a:r>
                        <a:rPr lang="en-US" sz="1800" dirty="0" smtClean="0"/>
                        <a:t> &amp; Ahmad </a:t>
                      </a:r>
                      <a:r>
                        <a:rPr lang="en-US" sz="1800" dirty="0" err="1" smtClean="0"/>
                        <a:t>Kamil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Mahmood</a:t>
                      </a:r>
                      <a:r>
                        <a:rPr lang="en-US" sz="1800" dirty="0" smtClean="0"/>
                        <a:t> (2007) </a:t>
                      </a:r>
                      <a:endParaRPr lang="en-US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Feasible Route Determination Using Ant Colony Optimization in Evacuation Planning </a:t>
                      </a:r>
                      <a:r>
                        <a:rPr lang="en-GB" sz="1800" dirty="0"/>
                        <a:t>.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 smtClean="0"/>
                        <a:t>Modified Ant Colony Optimization </a:t>
                      </a:r>
                      <a:endParaRPr lang="en-US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Focuses on building evacuation and exit selection.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3</a:t>
                      </a:r>
                      <a:endParaRPr sz="180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 err="1" smtClean="0"/>
                        <a:t>Hojat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Behrooz</a:t>
                      </a:r>
                      <a:r>
                        <a:rPr lang="en-US" sz="1800" dirty="0" smtClean="0"/>
                        <a:t> &amp; Mohammad </a:t>
                      </a:r>
                      <a:r>
                        <a:rPr lang="en-US" sz="1800" dirty="0" err="1" smtClean="0"/>
                        <a:t>Ilbeigi</a:t>
                      </a:r>
                      <a:r>
                        <a:rPr lang="en-US" sz="1800" dirty="0" smtClean="0"/>
                        <a:t> (2025) </a:t>
                      </a:r>
                      <a:endParaRPr lang="en-US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Adaptive Emergency Evacuation Routing: A Graph-Based Approach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Dynamic graph and Depth-First Search (DFS)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Requires road-capacity and traffic-flow information.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83432" y="1746251"/>
          <a:ext cx="10748320" cy="313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01"/>
                <a:gridCol w="1871165"/>
                <a:gridCol w="3002567"/>
                <a:gridCol w="2393351"/>
                <a:gridCol w="2915536"/>
              </a:tblGrid>
              <a:tr h="66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S. No.</a:t>
                      </a:r>
                      <a:endParaRPr sz="2000" dirty="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  <a:endParaRPr sz="2000"/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4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it-IT" sz="1800" dirty="0" smtClean="0"/>
                        <a:t>Diya Li et al. (2023) </a:t>
                      </a:r>
                      <a:endParaRPr lang="it-IT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A Reinforcement Learning-Based Routing Algorithm for Large Street Networks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 smtClean="0"/>
                        <a:t>Reinforcement learning </a:t>
                      </a:r>
                      <a:endParaRPr lang="en-US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Training can require substantial data and computation.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/>
                        <a:t>5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 smtClean="0"/>
                        <a:t>Lei </a:t>
                      </a:r>
                      <a:r>
                        <a:rPr lang="en-US" sz="1800" dirty="0" err="1" smtClean="0"/>
                        <a:t>Xu</a:t>
                      </a:r>
                      <a:r>
                        <a:rPr lang="en-US" sz="1800" dirty="0" smtClean="0"/>
                        <a:t>, Kai Huang, </a:t>
                      </a:r>
                      <a:r>
                        <a:rPr lang="en-US" sz="1800" dirty="0" err="1" smtClean="0"/>
                        <a:t>Jiepeng</a:t>
                      </a:r>
                      <a:r>
                        <a:rPr lang="en-US" sz="1800" dirty="0" smtClean="0"/>
                        <a:t> Liu, </a:t>
                      </a:r>
                      <a:r>
                        <a:rPr lang="en-US" sz="1800" dirty="0" err="1" smtClean="0"/>
                        <a:t>Dongsheng</a:t>
                      </a:r>
                      <a:r>
                        <a:rPr lang="en-US" sz="1800" dirty="0" smtClean="0"/>
                        <a:t> Li </a:t>
                      </a:r>
                      <a:r>
                        <a:rPr lang="en-US" sz="1800" dirty="0" smtClean="0"/>
                        <a:t>(2022</a:t>
                      </a:r>
                      <a:r>
                        <a:rPr lang="en-US" sz="1800" dirty="0" smtClean="0"/>
                        <a:t>)</a:t>
                      </a:r>
                      <a:endParaRPr lang="en-US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Intelligent Planning of Fire Evacuation Routes Using an Improved Ant Colony Optimization Algorithm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Improved Ant Colony Optimization (ACO) </a:t>
                      </a:r>
                      <a:endParaRPr lang="en-GB" sz="1800" dirty="0" smtClean="0"/>
                    </a:p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GB" sz="1800" dirty="0" smtClean="0"/>
                        <a:t>Focuses on building fire evacuation; real-world road networks are not its main focus. </a:t>
                      </a:r>
                      <a:endParaRPr lang="en-GB" sz="1800" dirty="0" smtClean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Gap/Existing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  <p:sp>
        <p:nvSpPr>
          <p:cNvPr id="20" name="Rounded Rectangle 3"/>
          <p:cNvSpPr>
            <a:spLocks noGrp="1"/>
          </p:cNvSpPr>
          <p:nvPr>
            <p:ph idx="1"/>
          </p:nvPr>
        </p:nvSpPr>
        <p:spPr>
          <a:xfrm>
            <a:off x="766233" y="1752600"/>
            <a:ext cx="5052318" cy="1380257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lvl="0" indent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1200" b="1" dirty="0" smtClean="0">
                <a:solidFill>
                  <a:schemeClr val="tx1"/>
                </a:solidFill>
                <a:latin typeface="Play"/>
                <a:ea typeface="Play"/>
                <a:cs typeface="Play"/>
                <a:sym typeface="Play"/>
              </a:rPr>
              <a:t>                         </a:t>
            </a:r>
            <a:endParaRPr lang="en-US" sz="1200" b="1" dirty="0" smtClean="0">
              <a:solidFill>
                <a:schemeClr val="tx1"/>
              </a:solidFill>
              <a:latin typeface="Play"/>
              <a:ea typeface="Play"/>
              <a:cs typeface="Play"/>
              <a:sym typeface="Play"/>
            </a:endParaRPr>
          </a:p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endParaRPr sz="1200" dirty="0"/>
          </a:p>
        </p:txBody>
      </p:sp>
      <p:sp>
        <p:nvSpPr>
          <p:cNvPr id="21" name="Rounded Rectangle 4"/>
          <p:cNvSpPr/>
          <p:nvPr/>
        </p:nvSpPr>
        <p:spPr>
          <a:xfrm>
            <a:off x="6096000" y="1752600"/>
            <a:ext cx="5452872" cy="1216024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lvl="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GB" sz="1400" b="1" dirty="0" smtClean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en-IN" altLang="en-GB" sz="1400" b="1" dirty="0" smtClean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dirty="0"/>
          </a:p>
        </p:txBody>
      </p:sp>
      <p:sp>
        <p:nvSpPr>
          <p:cNvPr id="22" name="Rounded Rectangle 5"/>
          <p:cNvSpPr/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lvl="0" algn="just">
              <a:lnSpc>
                <a:spcPct val="115000"/>
              </a:lnSpc>
              <a:spcBef>
                <a:spcPts val="1400"/>
              </a:spcBef>
              <a:buSzPts val="1100"/>
            </a:pPr>
            <a:endParaRPr dirty="0"/>
          </a:p>
        </p:txBody>
      </p:sp>
      <p:sp>
        <p:nvSpPr>
          <p:cNvPr id="24" name="Rounded Rectangle 6"/>
          <p:cNvSpPr/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endParaRPr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" y="1647825"/>
            <a:ext cx="11207750" cy="433260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Proposed System </a:t>
            </a:r>
            <a:r>
              <a:rPr lang="en-US" sz="3200" b="1" dirty="0" err="1">
                <a:solidFill>
                  <a:srgbClr val="FF0000"/>
                </a:solidFill>
              </a:rPr>
              <a:t>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alternative evacuation routes when roads are marked as hazardous.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known blocked and flooded roads using available hazard data.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shortest available route using the A* Search Algorithm.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routes, hazards, and distances on an interactive map.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faster route planning during emergency situations.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open-source tools and map data, making the system cost-effective to develop.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Clr>
                <a:srgbClr val="CC0000"/>
              </a:buClr>
              <a:buNone/>
              <a:defRPr/>
            </a:pPr>
            <a:endParaRPr lang="en-IN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  <p:pic>
        <p:nvPicPr>
          <p:cNvPr id="5" name="Picture 4" descr="AI Emergency Evacuation D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955" y="1772920"/>
            <a:ext cx="9187815" cy="4186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Methodology/Work Flow Diagram</a:t>
            </a:r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even-Step Evacuation Routing Pipe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40" y="1768475"/>
            <a:ext cx="10656570" cy="426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508000" algn="just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Programming Languages: Python, JavaScript, HTML, CSS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508000" algn="just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Libraries: Flask,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OSMnx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NetworkX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Pandas, Leaflet.js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508000" algn="just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Software: Visual Studio Code, Web Browser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508000" algn="just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Dataset: Chennai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hazards.csv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508000" algn="just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Hardware: Laptop/PC, Internet connection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508000" algn="just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Justification: These tools support A* route planning, hazard avoidance, and interactive map visualization.</a:t>
            </a:r>
            <a:endParaRPr 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911225" y="1769110"/>
            <a:ext cx="985774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OSM Road Network &amp; Location HandlingChennai road data and location mapping.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ARoute Planning*Shortest route calculation using the A* Search Algorithm.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Hazard Detection &amp; ReroutingHazard identification and alternative route generation.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4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Map Visualization &amp; Web ServerRoute and hazard display using Flask and Leaflet.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5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Testing &amp; EvaluationRoute calculation and hazard avoidance testing.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Description(Module 1)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408" y="1628800"/>
            <a:ext cx="10668000" cy="4267200"/>
          </a:xfrm>
        </p:spPr>
        <p:txBody>
          <a:bodyPr/>
          <a:lstStyle/>
          <a:p>
            <a:pPr marL="0" lvl="0" indent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-US" sz="2800" dirty="0"/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Chennai road network using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road network as a graph.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road nodes and connecting edges.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six selected Chennai locations to road-network nodes.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road network for further route calculations.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Description(Module 2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)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source and destination.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A* Search Algorithm for route planning.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shortest-distance route through the road network.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the total distance of the generated route.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route nodes and distance in the output.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Description(Module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3)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hazardous road information in hazards.csv.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blocked, flooded, and hazardous road segments.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Excludes blocked road edges from the routing network.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A* Search again after a hazard is added.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alternate route when a valid path is available.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Description(Module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4)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Flask to serve the web application.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an interactive Chennai map using Leaflet.js.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source and destination selection options.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the calculated route and hazardous roads.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route distance and other route information.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Description(Module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5)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normal route generation between selected locations.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route recalculation after blocking a road.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generation of alternative routes.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route distances before and after hazard insertion.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route and hazard visualization on the web map.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6200" indent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</a:t>
            </a:r>
            <a:r>
              <a:rPr lang="en-US" sz="2400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Discussion</a:t>
            </a:r>
            <a:endParaRPr lang="en-GB" sz="2400" dirty="0" smtClean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 </a:t>
            </a: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road network integrated using </a:t>
            </a:r>
            <a:r>
              <a:rPr lang="en-GB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A* algorithm implemented for evacuation route planning.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Hazard-based road avoidance and alternative routing tested.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Interactive map developed using Flask and Leaflet.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Route distance and hazard locations displayed for six selected locations.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GB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Initial testing confirms successful rerouting when a road is marked as blocked.</a:t>
            </a:r>
            <a:endParaRPr lang="en-GB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Interface/ Screenshots</a:t>
            </a:r>
            <a:endParaRPr lang="en-IN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</a:fld>
            <a:endParaRPr lang="en-US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752600"/>
            <a:ext cx="10873207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Conclusion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A algorithm* to find efficient evacuation routes in Chennai.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avoids blocked or hazardous roads and identifies alternative routes whenever possible.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interactive web map helps users view routes and hazards, supporting safer emergency evacuation planning.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hazard updates for floods and road blockages.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live traffic data to improve route planning.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GPS integration to identify the user's current location.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emergency alerts and notifications for users.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cover more locations and road networks.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810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Contributors. (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n.d.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).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Copyright and License.</a:t>
            </a:r>
            <a:r>
              <a:rPr lang="en-US" sz="2400" dirty="0">
                <a:uFill>
                  <a:noFill/>
                </a:u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  <a:hlinkClick r:id="rId1"/>
              </a:rPr>
              <a:t> </a:t>
            </a:r>
            <a:r>
              <a:rPr lang="en-US" sz="2400" u="sng" dirty="0">
                <a:solidFill>
                  <a:schemeClr val="hlink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  <a:hlinkClick r:id="rId1"/>
              </a:rPr>
              <a:t>https://www.openstreetmap.org/copyright</a:t>
            </a:r>
            <a:endParaRPr lang="en-US" sz="2400" u="sng" dirty="0">
              <a:solidFill>
                <a:schemeClr val="hlink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NetworkX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Developers. (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n.d.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).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shortest path algorithm documentation.*</a:t>
            </a:r>
            <a:r>
              <a:rPr lang="en-US" sz="2400" dirty="0">
                <a:uFill>
                  <a:noFill/>
                </a:u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  <a:hlinkClick r:id="rId2"/>
              </a:rPr>
              <a:t> </a:t>
            </a:r>
            <a:r>
              <a:rPr lang="en-US" sz="2400" u="sng" dirty="0">
                <a:solidFill>
                  <a:schemeClr val="hlink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  <a:hlinkClick r:id="rId2"/>
              </a:rPr>
              <a:t>https://networkx.org/documentation/stable/</a:t>
            </a:r>
            <a:endParaRPr lang="en-US" sz="2400" u="sng" dirty="0">
              <a:solidFill>
                <a:schemeClr val="hlink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Boeing, G. (2017). </a:t>
            </a:r>
            <a:r>
              <a:rPr lang="en-US" sz="2400" i="1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OSMnx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: New methods for acquiring, constructing, analyzing, and visualizing complex street networks.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Computers, Environment and Urban Systems, 65, 126–139.</a:t>
            </a:r>
            <a:endParaRPr lang="en-US" sz="24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Pallets Projects. (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n.d.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).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Flask Documentation.</a:t>
            </a:r>
            <a:r>
              <a:rPr lang="en-US" sz="2400" dirty="0">
                <a:uFill>
                  <a:noFill/>
                </a:u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  <a:hlinkClick r:id="rId3"/>
              </a:rPr>
              <a:t> </a:t>
            </a:r>
            <a:r>
              <a:rPr lang="en-US" sz="2400" u="sng" dirty="0">
                <a:solidFill>
                  <a:schemeClr val="hlink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  <a:hlinkClick r:id="rId3"/>
              </a:rPr>
              <a:t>https://flask.palletsprojects.com/</a:t>
            </a:r>
            <a:endParaRPr lang="en-US" sz="2400" u="sng" dirty="0">
              <a:solidFill>
                <a:schemeClr val="hlink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</a:fld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7594</Words>
  <Application>WPS Presentation</Application>
  <PresentationFormat>Custom</PresentationFormat>
  <Paragraphs>311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2" baseType="lpstr">
      <vt:lpstr>Arial</vt:lpstr>
      <vt:lpstr>SimSun</vt:lpstr>
      <vt:lpstr>Wingdings</vt:lpstr>
      <vt:lpstr>Verdana</vt:lpstr>
      <vt:lpstr>Verdana</vt:lpstr>
      <vt:lpstr>Times New Roman</vt:lpstr>
      <vt:lpstr>Times New Roman</vt:lpstr>
      <vt:lpstr>Aptos</vt:lpstr>
      <vt:lpstr>Segoe UI</vt:lpstr>
      <vt:lpstr>Play</vt:lpstr>
      <vt:lpstr>Liberation Mono</vt:lpstr>
      <vt:lpstr>Arial</vt:lpstr>
      <vt:lpstr>Aptos Display</vt:lpstr>
      <vt:lpstr>Play</vt:lpstr>
      <vt:lpstr>Microsoft YaHei</vt:lpstr>
      <vt:lpstr>Arial Unicode MS</vt:lpstr>
      <vt:lpstr>Calibri</vt:lpstr>
      <vt:lpstr>Segoe UI Variable Display</vt:lpstr>
      <vt:lpstr>Profile</vt:lpstr>
      <vt:lpstr>PowerPoint 演示文稿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 System</vt:lpstr>
      <vt:lpstr>DFD Diagram</vt:lpstr>
      <vt:lpstr>Methodology/Work Flow Diagram</vt:lpstr>
      <vt:lpstr>Tools and Technologies</vt:lpstr>
      <vt:lpstr>List of Modules</vt:lpstr>
      <vt:lpstr>Module Description(Module 1)</vt:lpstr>
      <vt:lpstr>Module Description(Module 2)</vt:lpstr>
      <vt:lpstr>Module Description(Module 3)</vt:lpstr>
      <vt:lpstr>Module Description(Module 4)</vt:lpstr>
      <vt:lpstr>Module Description(Module 5)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WPS_1788176942</cp:lastModifiedBy>
  <cp:revision>23</cp:revision>
  <dcterms:created xsi:type="dcterms:W3CDTF">2026-10-20T05:31:19Z</dcterms:created>
  <dcterms:modified xsi:type="dcterms:W3CDTF">2026-10-20T05:50:45Z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5D44AD3D9F4C48A3BD63C6F44F262565_13</vt:lpwstr>
  </property>
</Properties>
</file>