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embeddedFontLst>
    <p:embeddedFont>
      <p:font typeface="Verdana" panose="020B0604030504040204"/>
      <p:regular r:id="rId27"/>
      <p:bold r:id="rId28"/>
      <p:italic r:id="rId29"/>
      <p:boldItalic r:id="rId30"/>
    </p:embeddedFont>
    <p:embeddedFont>
      <p:font typeface="Calibri" panose="020F0502020204030204"/>
      <p:regular r:id="rId31"/>
      <p:bold r:id="rId32"/>
      <p:italic r:id="rId33"/>
      <p:boldItalic r:id="rId34"/>
    </p:embeddedFont>
    <p:embeddedFont>
      <p:font typeface="Play" panose="00000500000000000000"/>
      <p:regular r:id="rId35"/>
      <p:bold r:id="rId36"/>
    </p:embeddedFont>
    <p:embeddedFont>
      <p:font typeface="Play" panose="00000500000000000000" charset="0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E410447-1320-44FF-81F0-DCFF746CC6E3}" styleName="Table_0">
    <a:wholeTbl>
      <a:tcTxStyle>
        <a:font>
          <a:latin typeface="Verdana"/>
          <a:ea typeface="Verdana"/>
          <a:cs typeface="Verdan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2F4"/>
          </a:solidFill>
        </a:fill>
      </a:tcStyle>
    </a:wholeTbl>
    <a:band1H>
      <a:tcStyle>
        <a:tcBdr/>
        <a:fill>
          <a:solidFill>
            <a:srgbClr val="E0E4E9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0E4E9"/>
          </a:solidFill>
        </a:fill>
      </a:tcStyle>
    </a:band1V>
    <a:band2V>
      <a:tcStyle>
        <a:tcBdr/>
      </a:tcStyle>
    </a:band2V>
    <a:lastCol>
      <a:tcTxStyle b="on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Verdana"/>
          <a:ea typeface="Verdana"/>
          <a:cs typeface="Verdan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Verdana"/>
          <a:ea typeface="Verdana"/>
          <a:cs typeface="Verdan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47" d="100"/>
          <a:sy n="47" d="100"/>
        </p:scale>
        <p:origin x="-2035" y="-845"/>
      </p:cViewPr>
      <p:guideLst>
        <p:guide orient="horz" pos="2160"/>
        <p:guide pos="38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12.fntdata"/><Relationship Id="rId37" Type="http://schemas.openxmlformats.org/officeDocument/2006/relationships/font" Target="fonts/font11.fntdata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914400" y="2393950"/>
            <a:ext cx="103632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9" name="Google Shape;19;p22"/>
          <p:cNvSpPr txBox="1">
            <a:spLocks noGrp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>
            <a:spLocks noGrp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26"/>
          <p:cNvSpPr txBox="1">
            <a:spLocks noGrp="1"/>
          </p:cNvSpPr>
          <p:nvPr>
            <p:ph type="body" idx="2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2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1" name="Google Shape;51;p2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2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3" name="Google Shape;53;p2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27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30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>
            <a:spLocks noGrp="1"/>
          </p:cNvSpPr>
          <p:nvPr>
            <p:ph type="body" idx="1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3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>
            <a:spLocks noGrp="1"/>
          </p:cNvSpPr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>
            <a:spLocks noGrp="1"/>
          </p:cNvSpPr>
          <p:nvPr>
            <p:ph type="body" idx="1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32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00" b="0" i="0" u="none" strike="noStrike" cap="none">
                <a:solidFill>
                  <a:schemeClr val="dk2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sz="3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sz="2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74650" algn="l" rtl="0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sz="23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3200400" marR="0" lvl="6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3657600" marR="0" lvl="7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4114800" marR="0" lvl="8" indent="-355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2" name="Google Shape;12;p21"/>
          <p:cNvSpPr/>
          <p:nvPr/>
        </p:nvSpPr>
        <p:spPr>
          <a:xfrm>
            <a:off x="812800" y="1566864"/>
            <a:ext cx="10610851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cxnSp>
        <p:nvCxnSpPr>
          <p:cNvPr id="13" name="Google Shape;13;p2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/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flask.palletsprojects.com/" TargetMode="External"/><Relationship Id="rId2" Type="http://schemas.openxmlformats.org/officeDocument/2006/relationships/hyperlink" Target="https://networkx.org/documentation/stable/" TargetMode="External"/><Relationship Id="rId1" Type="http://schemas.openxmlformats.org/officeDocument/2006/relationships/hyperlink" Target="https://www.openstreetmap.org/copyright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2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Verdana" panose="020B0604030504040204"/>
              <a:buNone/>
            </a:pPr>
            <a:endParaRPr lang="en-US" sz="4000" b="1">
              <a:solidFill>
                <a:srgbClr val="7030A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Verdana" panose="020B0604030504040204"/>
              <a:buNone/>
            </a:pPr>
            <a:r>
              <a:rPr lang="en-US" sz="40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AI POWERED EMERGENCY EVACUATION ROUTE PLANNING SYSTEM — REVIEW 2</a:t>
            </a:r>
            <a:endParaRPr lang="en-US" sz="4000" b="1">
              <a:solidFill>
                <a:srgbClr val="7030A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62899" y="5183900"/>
            <a:ext cx="5430300" cy="119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SUPERVISOR</a:t>
            </a:r>
            <a:endParaRPr lang="en-US"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Dr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 </a:t>
            </a:r>
            <a:r>
              <a:rPr lang="en-US" sz="2400" b="1" dirty="0" err="1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S.Bhuvana</a:t>
            </a: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Ph</a:t>
            </a: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.D</a:t>
            </a:r>
            <a:r>
              <a:rPr lang="en-IN" alt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.</a:t>
            </a:r>
            <a:endParaRPr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ASSISTANT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PROFESSOR (SG)</a:t>
            </a:r>
            <a:endParaRPr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215400" y="5183550"/>
            <a:ext cx="42450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STUDENTS</a:t>
            </a:r>
            <a:endParaRPr lang="en-US" sz="2400" b="1" dirty="0" smtClean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dirty="0" err="1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Dharani</a:t>
            </a:r>
            <a:r>
              <a:rPr lang="en-US" sz="2400" b="1" dirty="0" smtClean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K - 241901025</a:t>
            </a:r>
            <a:endParaRPr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lang="en-US" sz="2400" b="1" dirty="0" err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Dhivya</a:t>
            </a:r>
            <a:r>
              <a:rPr lang="en-US" sz="2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M  - 241901027</a:t>
            </a:r>
            <a:endParaRPr sz="2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54333" y="980728"/>
            <a:ext cx="10515600" cy="72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 panose="020B0604030504040204"/>
              <a:buNone/>
            </a:pPr>
            <a:r>
              <a:rPr lang="en-US"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Department of Computer Science and Engineering</a:t>
            </a:r>
            <a:endParaRPr lang="en-US"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 panose="020B0604030504040204"/>
              <a:buNone/>
            </a:pPr>
            <a:r>
              <a:rPr lang="en-US"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(Cyber Security)</a:t>
            </a:r>
            <a:endParaRPr lang="en-US"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 panose="020B0604030504040204"/>
              <a:buNone/>
            </a:pPr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95" name="Google Shape;95;p1" descr="C:\Users\REC\Downloads\REC_Logo_Color_PNG_RGB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CS23533– Foundations of Artificial Intelligence</a:t>
            </a:r>
            <a:endParaRPr lang="en-US" sz="2400" b="1">
              <a:solidFill>
                <a:srgbClr val="C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2026-2027</a:t>
            </a:r>
            <a:endParaRPr sz="180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755650" y="1752600"/>
            <a:ext cx="10668000" cy="4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During 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emergencies such as floods and road blockages, finding a safe evacuation route becomes difficult.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People, emergency responders, and rescue teams may face delays due to hazardous roads.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Normal route planning may not adequately account for blocked or flooded roads.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project uses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the A* Search Algorithm to identify safe alternate routes by avoiding hazardous roads.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main motivation is to improve evacuation route planning and help people make safer decisions during emergencies.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endParaRPr sz="2400"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 &amp; Expected Outcomes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 a Chennai road network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Apply the A* algorithm to calculate evacuation routes and distances.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 hazard-aware rerouting by avoiding blocked roads.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Visualize routes, hazardous roads, and alternate paths on an interactive map.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Completed: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Road network integration, A*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pathfinding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hazard-based rerouting, and Flask–Leaflet map integration.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 Completed After Review 1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Integrated Chennai road network data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A*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pathfinding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distance calculation.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Implemented hazard-based road avoidance and alternative routing.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Built an interactive map using Flask and Leaflet.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Current Status: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Core modules integrated and route rerouting demonstrated successfully.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31750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Literature Survey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lang="en-US" sz="2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sz="28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</a:p>
        </p:txBody>
      </p:sp>
      <p:sp>
        <p:nvSpPr>
          <p:cNvPr id="125" name="Google Shape;125;p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126" name="Google Shape;126;p5"/>
          <p:cNvGraphicFramePr/>
          <p:nvPr/>
        </p:nvGraphicFramePr>
        <p:xfrm>
          <a:off x="623392" y="1752600"/>
          <a:ext cx="11089250" cy="5241155"/>
        </p:xfrm>
        <a:graphic>
          <a:graphicData uri="http://schemas.openxmlformats.org/drawingml/2006/table">
            <a:tbl>
              <a:tblPr firstRow="1" bandRow="1">
                <a:noFill/>
                <a:tableStyleId>{9E410447-1320-44FF-81F0-DCFF746CC6E3}</a:tableStyleId>
              </a:tblPr>
              <a:tblGrid>
                <a:gridCol w="288025"/>
                <a:gridCol w="1928925"/>
                <a:gridCol w="3205175"/>
                <a:gridCol w="2554850"/>
                <a:gridCol w="3112275"/>
              </a:tblGrid>
              <a:tr h="101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S. No.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Author(s) &amp; Year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Paper Title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Methodology / Algorithm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Limitations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</a:tr>
              <a:tr h="68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lang="en-US" sz="1800" u="none" strike="noStrike" cap="none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SzPts val="1100"/>
                        <a:buNone/>
                      </a:pPr>
                      <a:r>
                        <a:rPr lang="en-US" sz="1800" dirty="0" err="1"/>
                        <a:t>Taeyoung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Choe</a:t>
                      </a:r>
                      <a:r>
                        <a:rPr lang="en-US" sz="1800" dirty="0"/>
                        <a:t> et al. (2023)</a:t>
                      </a:r>
                      <a:endParaRPr sz="1800"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Complex Disaster Response Framework to Reduce Urban Disaster Vulnerability </a:t>
                      </a:r>
                      <a:endParaRPr sz="1800"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</a:t>
                      </a:r>
                      <a:r>
                        <a:rPr lang="en-US" sz="1800" dirty="0"/>
                        <a:t>ultilayer road network and evacuation route planning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Depends on accurate disaster and road-network information.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</a:tr>
              <a:tr h="68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lang="en-US" sz="1800" u="none" strike="noStrike" cap="none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Arief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Rahman</a:t>
                      </a:r>
                      <a:r>
                        <a:rPr lang="en-US" sz="1800" dirty="0"/>
                        <a:t> &amp; Ahmad </a:t>
                      </a:r>
                      <a:r>
                        <a:rPr lang="en-US" sz="1800" dirty="0" err="1"/>
                        <a:t>Kamil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Mahmood</a:t>
                      </a:r>
                      <a:r>
                        <a:rPr lang="en-US" sz="1800" dirty="0"/>
                        <a:t> (2007)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Feasible Route Determination Using Ant Colony Optimization in Evacuation Planning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Modified Ant Colony Optimization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Focuses on building evacuation and exit selection.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</a:tr>
              <a:tr h="946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lang="en-US" sz="1800" u="none" strike="noStrike" cap="none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Hojat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Behrooz</a:t>
                      </a:r>
                      <a:r>
                        <a:rPr lang="en-US" sz="1800" dirty="0"/>
                        <a:t> &amp; Mohammad </a:t>
                      </a:r>
                      <a:r>
                        <a:rPr lang="en-US" sz="1800" dirty="0" err="1"/>
                        <a:t>Ilbeigi</a:t>
                      </a:r>
                      <a:r>
                        <a:rPr lang="en-US" sz="1800" dirty="0"/>
                        <a:t> (2025)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Adaptive Emergency Evacuation Routing: A Graph-Based Approach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Dynamic graph and Depth-First Search (DFS)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Requires road-capacity and traffic-flow information.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Literature Survey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32" name="Google Shape;132;p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None/>
            </a:pPr>
            <a:br>
              <a:rPr lang="en-US" sz="2800" b="0" i="0" u="none" strike="noStrike" cap="none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sz="2800" b="0" i="0" u="none" strike="noStrike" cap="none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</a:p>
        </p:txBody>
      </p:sp>
      <p:sp>
        <p:nvSpPr>
          <p:cNvPr id="133" name="Google Shape;133;p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aphicFrame>
        <p:nvGraphicFramePr>
          <p:cNvPr id="134" name="Google Shape;134;p6"/>
          <p:cNvGraphicFramePr/>
          <p:nvPr/>
        </p:nvGraphicFramePr>
        <p:xfrm>
          <a:off x="983432" y="1746251"/>
          <a:ext cx="10748325" cy="3685080"/>
        </p:xfrm>
        <a:graphic>
          <a:graphicData uri="http://schemas.openxmlformats.org/drawingml/2006/table">
            <a:tbl>
              <a:tblPr firstRow="1" bandRow="1">
                <a:noFill/>
                <a:tableStyleId>{9E410447-1320-44FF-81F0-DCFF746CC6E3}</a:tableStyleId>
              </a:tblPr>
              <a:tblGrid>
                <a:gridCol w="565700"/>
                <a:gridCol w="1871175"/>
                <a:gridCol w="3002575"/>
                <a:gridCol w="2393350"/>
                <a:gridCol w="2915525"/>
              </a:tblGrid>
              <a:tr h="664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S. No.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Author(s) &amp; Year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Paper Title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Methodology / Algorithm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Limitations</a:t>
                      </a:r>
                      <a:endParaRPr lang="en-US" sz="2000" u="none" strike="noStrike" cap="none"/>
                    </a:p>
                  </a:txBody>
                  <a:tcPr marL="91450" marR="73150" marT="54875" marB="45725" anchor="ctr">
                    <a:solidFill>
                      <a:srgbClr val="2A67B0"/>
                    </a:solidFill>
                  </a:tcPr>
                </a:tc>
              </a:tr>
              <a:tr h="858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lang="en-US" sz="1800" u="none" strike="noStrike" cap="none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/>
                        <a:t>Diya</a:t>
                      </a:r>
                      <a:r>
                        <a:rPr lang="en-US" sz="1800" dirty="0"/>
                        <a:t> Li et al. (2023)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 Reinforcement Learning-Based Routing Algorithm for Large Street Networks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Reinforcement learning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Training can require substantial data and computation.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</a:tr>
              <a:tr h="858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Lei </a:t>
                      </a:r>
                      <a:r>
                        <a:rPr lang="en-US" sz="1800" dirty="0" err="1"/>
                        <a:t>Xu</a:t>
                      </a:r>
                      <a:r>
                        <a:rPr lang="en-US" sz="1800" dirty="0"/>
                        <a:t>, Kai Huang, </a:t>
                      </a:r>
                      <a:r>
                        <a:rPr lang="en-US" sz="1800" dirty="0" err="1"/>
                        <a:t>Jiepeng</a:t>
                      </a:r>
                      <a:r>
                        <a:rPr lang="en-US" sz="1800" dirty="0"/>
                        <a:t> Liu, </a:t>
                      </a:r>
                      <a:r>
                        <a:rPr lang="en-US" sz="1800" dirty="0" err="1"/>
                        <a:t>Dongsheng</a:t>
                      </a:r>
                      <a:r>
                        <a:rPr lang="en-US" sz="1800" dirty="0"/>
                        <a:t> Li 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/>
                        <a:t>(2022)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Intelligent Planning of Fire Evacuation Routes Using an Improved Ant Colony Optimization Algorithm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Improved Ant Colony Optimization (ACO)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Focuses on building fire evacuation; real-world road networks are not its main focus. </a:t>
                      </a:r>
                      <a:endParaRPr dirty="0"/>
                    </a:p>
                  </a:txBody>
                  <a:tcPr marL="91450" marR="73150" marT="54875" marB="45725" anchor="ctr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 Research Gap and Project Response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1" name="Google Shape;141;p7"/>
          <p:cNvSpPr>
            <a:spLocks noGrp="1"/>
          </p:cNvSpPr>
          <p:nvPr>
            <p:ph type="body" idx="1"/>
          </p:nvPr>
        </p:nvSpPr>
        <p:spPr>
          <a:xfrm>
            <a:off x="755650" y="1752600"/>
            <a:ext cx="5052318" cy="1611086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3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GB" sz="1300" b="1" dirty="0" smtClean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3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400" b="1" dirty="0" smtClean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                          1.Literature </a:t>
            </a:r>
            <a:r>
              <a:rPr lang="en-US" sz="1400" b="1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Findings</a:t>
            </a:r>
            <a:endParaRPr sz="1400" b="1" dirty="0"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Optimization algorithms improve evacuation route planning.</a:t>
            </a:r>
            <a:endParaRPr sz="1200" dirty="0"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Hazard information is important for safe routing.</a:t>
            </a:r>
            <a:endParaRPr sz="1200" dirty="0"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Changing road conditions remain a challenge.</a:t>
            </a:r>
            <a:endParaRPr sz="1200" dirty="0"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●"/>
            </a:pPr>
            <a:r>
              <a:rPr lang="en-US" sz="1200" b="1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Research gap:</a:t>
            </a:r>
            <a:r>
              <a:rPr lang="en-US" sz="1200" dirty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Effective hazard-aware alternative routing.</a:t>
            </a:r>
            <a:endParaRPr sz="1200" dirty="0"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69900" lvl="0" indent="-279400" algn="l" rtl="0">
              <a:spcBef>
                <a:spcPts val="1000"/>
              </a:spcBef>
              <a:spcAft>
                <a:spcPts val="0"/>
              </a:spcAft>
              <a:buSzPts val="3000"/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096000" y="1752599"/>
            <a:ext cx="5452872" cy="1594757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 dirty="0" smtClean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                           2.Limitations</a:t>
            </a:r>
            <a:endParaRPr b="1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Hazard data is entered manually.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Real-time traffic and hazard updates are unavailable.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Route accuracy depends on </a:t>
            </a:r>
            <a:r>
              <a:rPr lang="en-US" sz="1200" dirty="0" err="1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OpenStreetMap</a:t>
            </a: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data.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Only selected locations in Chennai are tested.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700" b="1" dirty="0">
              <a:solidFill>
                <a:srgbClr val="193054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66233" y="3645024"/>
            <a:ext cx="5177367" cy="1890362"/>
          </a:xfrm>
          <a:prstGeom prst="roundRect">
            <a:avLst>
              <a:gd name="adj" fmla="val 16667"/>
            </a:avLst>
          </a:prstGeom>
          <a:solidFill>
            <a:srgbClr val="EBF2FA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b="1" dirty="0" smtClean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                   3.Refined </a:t>
            </a:r>
            <a:r>
              <a:rPr lang="en-US" b="1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Research Gap</a:t>
            </a:r>
            <a:endParaRPr b="1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Limited integration of hazard avoidance with evacuation route planning.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Need for automatic alternative routes around blocked roads.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457200" lvl="0" indent="-3048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 panose="00000500000000000000"/>
              <a:buChar char="●"/>
            </a:pPr>
            <a:r>
              <a:rPr lang="en-US" sz="1200" dirty="0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Lack of a simple interactive map for visualizing safe routes.</a:t>
            </a:r>
            <a:endParaRPr sz="1200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b="1" dirty="0">
              <a:solidFill>
                <a:schemeClr val="dk1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b="1" dirty="0">
              <a:solidFill>
                <a:srgbClr val="193054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68142" y="3794760"/>
            <a:ext cx="5180729" cy="1740626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9525" cap="flat" cmpd="sng">
            <a:solidFill>
              <a:srgbClr val="CDDA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01150" tIns="146300" rIns="164575" bIns="45700" anchor="ctr" anchorCtr="0">
            <a:noAutofit/>
          </a:bodyPr>
          <a:lstStyle/>
          <a:p>
            <a:pPr algn="just"/>
            <a:r>
              <a:rPr lang="en-GB" b="1" dirty="0">
                <a:solidFill>
                  <a:schemeClr val="tx1"/>
                </a:solidFill>
                <a:latin typeface="Play" panose="00000500000000000000" charset="0"/>
              </a:rPr>
              <a:t> </a:t>
            </a:r>
            <a:r>
              <a:rPr lang="en-GB" b="1" dirty="0" smtClean="0">
                <a:solidFill>
                  <a:schemeClr val="tx1"/>
                </a:solidFill>
                <a:latin typeface="Play" panose="00000500000000000000" charset="0"/>
              </a:rPr>
              <a:t>                   4</a:t>
            </a:r>
            <a:r>
              <a:rPr lang="en-GB" b="1" dirty="0">
                <a:solidFill>
                  <a:schemeClr val="tx1"/>
                </a:solidFill>
                <a:latin typeface="Play" panose="00000500000000000000" charset="0"/>
              </a:rPr>
              <a:t>. How Our Project Responds</a:t>
            </a:r>
            <a:endParaRPr lang="en-GB" b="1" dirty="0">
              <a:solidFill>
                <a:schemeClr val="tx1"/>
              </a:solidFill>
              <a:latin typeface="Play" panose="00000500000000000000" charset="0"/>
            </a:endParaRPr>
          </a:p>
          <a:p>
            <a:pPr algn="just"/>
            <a:r>
              <a:rPr lang="en-GB" sz="1200" dirty="0">
                <a:solidFill>
                  <a:schemeClr val="tx1"/>
                </a:solidFill>
                <a:latin typeface="Play" panose="00000500000000000000" charset="0"/>
              </a:rPr>
              <a:t>Uses </a:t>
            </a:r>
            <a:r>
              <a:rPr lang="en-GB" sz="1200" dirty="0" err="1">
                <a:solidFill>
                  <a:schemeClr val="tx1"/>
                </a:solidFill>
                <a:latin typeface="Play" panose="00000500000000000000" charset="0"/>
              </a:rPr>
              <a:t>OpenStreetMap</a:t>
            </a:r>
            <a:r>
              <a:rPr lang="en-GB" sz="1200" dirty="0">
                <a:solidFill>
                  <a:schemeClr val="tx1"/>
                </a:solidFill>
                <a:latin typeface="Play" panose="00000500000000000000" charset="0"/>
              </a:rPr>
              <a:t> and the A algorithm* to find efficient evacuation routes.</a:t>
            </a:r>
            <a:endParaRPr lang="en-GB" sz="1200" dirty="0">
              <a:solidFill>
                <a:schemeClr val="tx1"/>
              </a:solidFill>
              <a:latin typeface="Play" panose="00000500000000000000" charset="0"/>
            </a:endParaRPr>
          </a:p>
          <a:p>
            <a:pPr algn="just"/>
            <a:r>
              <a:rPr lang="en-GB" sz="1200" dirty="0">
                <a:solidFill>
                  <a:schemeClr val="tx1"/>
                </a:solidFill>
                <a:latin typeface="Play" panose="00000500000000000000" charset="0"/>
              </a:rPr>
              <a:t>Avoids blocked or hazardous roads and finds alternative routes whenever possible.</a:t>
            </a:r>
            <a:endParaRPr lang="en-GB" sz="1200" dirty="0">
              <a:solidFill>
                <a:schemeClr val="tx1"/>
              </a:solidFill>
              <a:latin typeface="Play" panose="00000500000000000000" charset="0"/>
            </a:endParaRPr>
          </a:p>
          <a:p>
            <a:pPr algn="just"/>
            <a:r>
              <a:rPr lang="en-GB" sz="1200" dirty="0">
                <a:solidFill>
                  <a:schemeClr val="tx1"/>
                </a:solidFill>
                <a:latin typeface="Play" panose="00000500000000000000" charset="0"/>
              </a:rPr>
              <a:t>Displays the route and hazards on an interactive web map using Flask and Leaflet</a:t>
            </a:r>
            <a:r>
              <a:rPr lang="en-GB" sz="1800" dirty="0">
                <a:solidFill>
                  <a:schemeClr val="tx1"/>
                </a:solidFill>
                <a:latin typeface="Play" panose="00000500000000000000" charset="0"/>
              </a:rPr>
              <a:t>.</a:t>
            </a:r>
            <a:endParaRPr sz="1700" b="1" dirty="0">
              <a:solidFill>
                <a:srgbClr val="193054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System Architecture / Proposed System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51" name="Google Shape;151;p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7" y="1649186"/>
            <a:ext cx="5805942" cy="4490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>
              <a:buNone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road-network data from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A* Search for route planning.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manually recorded blocked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roads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alternative routes when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available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routes and hazards on an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interactive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DFD Diagram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 descr="AI Emergency Evacuation DF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560" y="1752600"/>
            <a:ext cx="9735185" cy="40468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165" name="Google Shape;165;p10"/>
          <p:cNvSpPr txBox="1">
            <a:spLocks noGrp="1"/>
          </p:cNvSpPr>
          <p:nvPr>
            <p:ph type="body" idx="1"/>
          </p:nvPr>
        </p:nvSpPr>
        <p:spPr>
          <a:xfrm>
            <a:off x="755650" y="1752600"/>
            <a:ext cx="10668000" cy="49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Content Placeholder 1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Seven-Step Evacuation Routing Pipelin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1870075"/>
            <a:ext cx="10583545" cy="4031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Tools and Technologies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Programming Languages: Python, JavaScript, HTML, CSS</a:t>
            </a:r>
            <a:endParaRPr sz="24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Libraries: Flask, </a:t>
            </a:r>
            <a:r>
              <a:rPr lang="en-US" sz="24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OSMnx</a:t>
            </a: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4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NetworkX</a:t>
            </a: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Pandas, Leaflet.js</a:t>
            </a:r>
            <a:endParaRPr sz="24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Software: Visual Studio Code, Web Browser</a:t>
            </a:r>
            <a:endParaRPr sz="24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Dataset: Chennai </a:t>
            </a:r>
            <a:r>
              <a:rPr lang="en-US" sz="2400" dirty="0" err="1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hazards.csv</a:t>
            </a:r>
            <a:endParaRPr sz="2400" dirty="0" smtClean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Hardware: Laptop/PC, Internet connection</a:t>
            </a:r>
            <a:endParaRPr sz="2400" dirty="0" smtClean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508000" algn="just" rtl="0">
              <a:spcBef>
                <a:spcPts val="480"/>
              </a:spcBef>
              <a:spcAft>
                <a:spcPts val="0"/>
              </a:spcAft>
              <a:buSzPts val="2400"/>
              <a:buFont typeface="Times New Roman" panose="02020603050405020304"/>
              <a:buChar char="□"/>
            </a:pP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Justification: These tools support A* route planning, hazard avoidance, and interactive map visualization.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179" name="Google Shape;179;p12"/>
          <p:cNvSpPr txBox="1">
            <a:spLocks noGrp="1"/>
          </p:cNvSpPr>
          <p:nvPr>
            <p:ph type="body" idx="1"/>
          </p:nvPr>
        </p:nvSpPr>
        <p:spPr>
          <a:xfrm>
            <a:off x="755651" y="16383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69900" lvl="0" indent="-469900" algn="l" rtl="0">
              <a:spcBef>
                <a:spcPts val="1200"/>
              </a:spcBef>
              <a:spcAft>
                <a:spcPts val="0"/>
              </a:spcAft>
              <a:buSzPts val="2400"/>
              <a:buChar char="□"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281430" y="1793240"/>
            <a:ext cx="9526270" cy="378460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OSM Road Network &amp; Location HandlingChennai road data and location mapping.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ARoute Planning*Shortest route calculation using the A* Search Algorithm.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Hazard Detection &amp; ReroutingHazard identification and alternative route generation.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Map Visualization &amp; Web ServerRoute and hazard display using Flask and Leaflet.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5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Testing &amp; EvaluationRoute calculation and hazard avoidance testing.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</a:rPr>
              <a:t>Module Implementation – Part </a:t>
            </a:r>
            <a:r>
              <a:rPr lang="en-US" sz="3200" b="1" dirty="0" smtClean="0">
                <a:solidFill>
                  <a:srgbClr val="FF0000"/>
                </a:solidFill>
              </a:rPr>
              <a:t>(1-3)</a:t>
            </a:r>
            <a:endParaRPr sz="2800"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body" idx="1"/>
          </p:nvPr>
        </p:nvSpPr>
        <p:spPr>
          <a:xfrm>
            <a:off x="832757" y="1534887"/>
            <a:ext cx="10607222" cy="455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Module 1 – OSM Road Network &amp; Location Handling — Completed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Downloads Chennai road network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Maps selected locations to road network nodes.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 Module 2 – A Route Planning — </a:t>
            </a:r>
            <a:r>
              <a:rPr lang="en-US" sz="24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Completed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Finds routes between source and destination.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Calculates route distance using the A* algorithm.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Module 3 – Hazard Detection &amp; Rerouting — Completed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Identifies blocked, flooded, and hazardous roads from </a:t>
            </a:r>
            <a:r>
              <a:rPr lang="en-US" sz="2400" dirty="0">
                <a:solidFill>
                  <a:srgbClr val="18803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hazards.csv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Finds an alternate safe route by avoiding blocked road edges.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-31750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</a:rPr>
              <a:t>Module Implementation – Part </a:t>
            </a:r>
            <a:r>
              <a:rPr lang="en-US" sz="3200" b="1" dirty="0" smtClean="0">
                <a:solidFill>
                  <a:srgbClr val="FF0000"/>
                </a:solidFill>
              </a:rPr>
              <a:t>(4-5)</a:t>
            </a:r>
            <a:endParaRPr sz="2800" dirty="0"/>
          </a:p>
        </p:txBody>
      </p:sp>
      <p:sp>
        <p:nvSpPr>
          <p:cNvPr id="193" name="Google Shape;193;p14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Module 4 – Map Visualization &amp; Web Server — Completed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Flask to serve the web application.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routes, locations, and hazards using Leaflet.js.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Testing &amp; Final Evaluation — Completed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normal route generation and hazard-based rerouting.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route distance and hazard visualization on the map.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4" name="Google Shape;194;p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Preliminary Results and Discussion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 road network integrated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A* algorithm implemented for evacuation route planning.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Hazard-based road avoidance and alternative routing tested.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Interactive map developed using Flask and Leaflet.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Route distance and hazard locations displayed for six selected locations.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Char char="●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Initial testing confirms successful rerouting when a road is marked as blocked.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201" name="Google Shape;201;p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207" name="Google Shape;207;p16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469900" algn="l" rtl="0">
              <a:spcBef>
                <a:spcPts val="480"/>
              </a:spcBef>
              <a:spcAft>
                <a:spcPts val="0"/>
              </a:spcAft>
              <a:buSzPts val="2400"/>
              <a:buChar char="□"/>
            </a:p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  <p:sp>
        <p:nvSpPr>
          <p:cNvPr id="208" name="Google Shape;208;p16"/>
          <p:cNvSpPr txBox="1">
            <a:spLocks noGrp="1"/>
          </p:cNvSpPr>
          <p:nvPr>
            <p:ph type="dt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209" name="Google Shape;209;p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210" name="Google Shape;210;p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11" name="Google Shape;211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2800" y="1752600"/>
            <a:ext cx="10668000" cy="4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217" name="Google Shape;217;p17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Challenges Faced and Solutions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Road Network Data: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Integrated Chennai road data using 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Route Planning: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Used the A* algorithm to calculate routes efficiently.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Hazard Avoidance: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Removed blocked roads from the graph to find alternative routes.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Map Integration: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Connected Flask APIs with Leaflet for route visualization.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/>
          </a:p>
          <a:p>
            <a:pPr marL="469900" lvl="0" indent="-317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218" name="Google Shape;218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Work Plan Until Final Review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224" name="Google Shape;224;p18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 Plan Until Final Review</a:t>
            </a:r>
            <a:endParaRPr sz="24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 1: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Complete module integration and fix errors.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 2: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Test route planning and hazard-based rerouting.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 3: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Evaluate results and improve map visualization.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 4: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Complete project documentation and report.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●"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 5: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Prepare PPT, finalize screenshots, and rehearse the presentation.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Milestone: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Complete system testing and demonstrate the working project during the final review.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400"/>
              <a:buNone/>
            </a:pPr>
            <a:endParaRPr sz="2400" dirty="0"/>
          </a:p>
        </p:txBody>
      </p:sp>
      <p:sp>
        <p:nvSpPr>
          <p:cNvPr id="225" name="Google Shape;225;p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 txBox="1"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0000"/>
                </a:solidFill>
              </a:rPr>
              <a:t>References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OpenStreetMap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Contributors. (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Copyright and License.</a:t>
            </a:r>
            <a:r>
              <a:rPr lang="en-US" sz="2400" dirty="0">
                <a:uFill>
                  <a:noFill/>
                </a:u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1"/>
              </a:rPr>
              <a:t>https://www.openstreetmap.org/copyright</a:t>
            </a:r>
            <a:endParaRPr sz="2400" u="sng" dirty="0">
              <a:solidFill>
                <a:schemeClr val="hlin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NetworkX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Developers. (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shortest path algorithm documentation.*</a:t>
            </a:r>
            <a:r>
              <a:rPr lang="en-US" sz="2400" dirty="0">
                <a:uFill>
                  <a:noFill/>
                </a:u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2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2"/>
              </a:rPr>
              <a:t>https://networkx.org/documentation/stable/</a:t>
            </a:r>
            <a:endParaRPr sz="2400" u="sng" dirty="0">
              <a:solidFill>
                <a:schemeClr val="hlin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Boeing, G. (2017). </a:t>
            </a:r>
            <a:r>
              <a:rPr lang="en-US" sz="2400" i="1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OSMnx</a:t>
            </a:r>
            <a:r>
              <a:rPr lang="en-US" sz="2400" i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New methods for acquiring, constructing, analyzing, and visualizing complex street networks.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Computers, Environment and Urban Systems, 65, 126–139.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AutoNum type="arabicPeriod"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Pallets Projects. (</a:t>
            </a:r>
            <a:r>
              <a:rPr lang="en-US" sz="24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n.d.</a:t>
            </a: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). </a:t>
            </a:r>
            <a:r>
              <a:rPr lang="en-US" sz="2400" i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Flask Documentation.</a:t>
            </a:r>
            <a:r>
              <a:rPr lang="en-US" sz="2400" dirty="0">
                <a:uFill>
                  <a:noFill/>
                </a:u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 </a:t>
            </a:r>
            <a:r>
              <a:rPr lang="en-US" sz="2400" u="sng" dirty="0">
                <a:solidFill>
                  <a:schemeClr val="hlin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  <a:hlinkClick r:id="rId3"/>
              </a:rPr>
              <a:t>https://flask.palletsprojects.com/</a:t>
            </a:r>
            <a:endParaRPr sz="2400" u="sng" dirty="0">
              <a:solidFill>
                <a:schemeClr val="hlin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u="sng" dirty="0">
              <a:solidFill>
                <a:schemeClr val="hlin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699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0000"/>
                </a:solidFill>
              </a:rPr>
              <a:t>Thank You</a:t>
            </a: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238" name="Google Shape;238;p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7705</Words>
  <Application>WPS Presentation</Application>
  <PresentationFormat>Custom</PresentationFormat>
  <Paragraphs>316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SimSun</vt:lpstr>
      <vt:lpstr>Wingdings</vt:lpstr>
      <vt:lpstr>Arial</vt:lpstr>
      <vt:lpstr>Verdana</vt:lpstr>
      <vt:lpstr>Noto Sans Symbols</vt:lpstr>
      <vt:lpstr>Noto Sans</vt:lpstr>
      <vt:lpstr>Calibri</vt:lpstr>
      <vt:lpstr>Times New Roman</vt:lpstr>
      <vt:lpstr>Play</vt:lpstr>
      <vt:lpstr>Play</vt:lpstr>
      <vt:lpstr>Times New Roman</vt:lpstr>
      <vt:lpstr>Microsoft YaHei</vt:lpstr>
      <vt:lpstr>Arial Unicode MS</vt:lpstr>
      <vt:lpstr>Amiri</vt:lpstr>
      <vt:lpstr>Alef</vt:lpstr>
      <vt:lpstr>Arial Narrow</vt:lpstr>
      <vt:lpstr>Calibri</vt:lpstr>
      <vt:lpstr>Noto Sans Symbols</vt:lpstr>
      <vt:lpstr>Verdana</vt:lpstr>
      <vt:lpstr>Profile</vt:lpstr>
      <vt:lpstr>PowerPoint 演示文稿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(1-3)</vt:lpstr>
      <vt:lpstr>Module Implementation – Part (4-5)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WPS_1788176942</cp:lastModifiedBy>
  <cp:revision>12</cp:revision>
  <dcterms:created xsi:type="dcterms:W3CDTF">2026-10-20T05:02:43Z</dcterms:created>
  <dcterms:modified xsi:type="dcterms:W3CDTF">2026-10-20T05:31:00Z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87DB8A4C20F647AFBA99D495C1197DB9_13</vt:lpwstr>
  </property>
</Properties>
</file>