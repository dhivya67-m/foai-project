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eU06k1WhYA1plOHSJrLynaAy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D35DD4-EE6B-4212-968B-491B1F9D5AAB}">
  <a:tblStyle styleId="{DED35DD4-EE6B-4212-968B-491B1F9D5A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7539675d37785376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7539675d3778537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openstreetmap.org/" TargetMode="External"/><Relationship Id="rId4" Type="http://schemas.openxmlformats.org/officeDocument/2006/relationships/hyperlink" Target="https://osmnx.readthedocs.io/" TargetMode="External"/><Relationship Id="rId5" Type="http://schemas.openxmlformats.org/officeDocument/2006/relationships/hyperlink" Target="https://networkx.org/" TargetMode="External"/><Relationship Id="rId6" Type="http://schemas.openxmlformats.org/officeDocument/2006/relationships/hyperlink" Target="https://docs.python.org/3/" TargetMode="External"/><Relationship Id="rId7" Type="http://schemas.openxmlformats.org/officeDocument/2006/relationships/hyperlink" Target="https://flask.palletsprojects.com/" TargetMode="External"/><Relationship Id="rId8" Type="http://schemas.openxmlformats.org/officeDocument/2006/relationships/hyperlink" Target="https://leafletjs.com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e | Rajalakshmi Engineering College (REC)" id="159" name="Google Shape;1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720" y="497541"/>
            <a:ext cx="3580560" cy="115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"/>
          <p:cNvSpPr txBox="1"/>
          <p:nvPr/>
        </p:nvSpPr>
        <p:spPr>
          <a:xfrm>
            <a:off x="1655290" y="1653501"/>
            <a:ext cx="9601199" cy="3931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</a:t>
            </a:r>
            <a:r>
              <a:rPr b="0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Cyber Security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2026-2027- Odd Semester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III Year /V Sem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CS23533-FOUNDATIONS OF ARTIFICIAL INTELLIGENCE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IN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Review 1– 25.09.2026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I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Rajalakshmi Engineering College,Department of Cyber Security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"/>
          <p:cNvSpPr/>
          <p:nvPr/>
        </p:nvSpPr>
        <p:spPr>
          <a:xfrm>
            <a:off x="49586" y="72800"/>
            <a:ext cx="11547300" cy="660600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37886" rotWithShape="0" dir="5400000" dist="21784">
              <a:srgbClr val="000000">
                <a:alpha val="34902"/>
              </a:srgbClr>
            </a:outerShdw>
          </a:effectLst>
        </p:spPr>
        <p:txBody>
          <a:bodyPr anchorCtr="0" anchor="ctr" bIns="43275" lIns="86600" spcFirstLastPara="1" rIns="86600" wrap="square" tIns="4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Font typeface="Arial"/>
              <a:buNone/>
            </a:pPr>
            <a:r>
              <a:t/>
            </a:r>
            <a:endParaRPr b="0" i="0" sz="170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029451" y="241561"/>
            <a:ext cx="101331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275" lIns="86600" spcFirstLastPara="1" rIns="86600" wrap="square" tIns="43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8"/>
              <a:buFont typeface="Arial"/>
              <a:buNone/>
            </a:pPr>
            <a:r>
              <a:rPr b="1" i="0" lang="en-IN" sz="237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10913336" y="241550"/>
            <a:ext cx="94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379100" y="957725"/>
            <a:ext cx="10668000" cy="6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275" lIns="86600" spcFirstLastPara="1" rIns="86600" wrap="square" tIns="43275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During emergencies such as floods and road blockages, finding a safe evacuation route quickly is challenging.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This project uses OpenStreetMap road data</a:t>
            </a:r>
            <a:r>
              <a:rPr b="1"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to represent the real road network of Chennai.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The system applies the A* Search Algorithm to find a suitable route between selected locations.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When a road is marked as blocked or hazardous, the system avoids that road and generates an alternate safe route.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 web-based map interface allows users to select locations, view hazards, and visualize the evacuation route.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33070" marR="0" rtl="0" algn="just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000000"/>
              </a:buClr>
              <a:buSzPts val="1515"/>
              <a:buFont typeface="Arial"/>
              <a:buNone/>
            </a:pPr>
            <a:r>
              <a:t/>
            </a:r>
            <a:endParaRPr b="0" i="0" sz="261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5"/>
              <a:buFont typeface="Arial"/>
              <a:buNone/>
            </a:pPr>
            <a:r>
              <a:t/>
            </a:r>
            <a:endParaRPr b="0" i="0" sz="261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4625" lvl="0" marL="27051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Arial"/>
              <a:buNone/>
            </a:pPr>
            <a:r>
              <a:t/>
            </a:r>
            <a:endParaRPr b="0" i="0" sz="261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5"/>
              <a:buFont typeface="Arial"/>
              <a:buNone/>
            </a:pPr>
            <a:r>
              <a:t/>
            </a:r>
            <a:endParaRPr b="0" i="0" sz="1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245320" y="7496177"/>
            <a:ext cx="1115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331075" y="1096505"/>
            <a:ext cx="10789800" cy="46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During emergencies such as floods and road blockages, normal routes may become unsafe or unavailable.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Existing navigation systems may not specifically consider emergency hazards while selecting evacuation routes.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Finding a safe alternate route manually can be time-consuming and difficult during emergencies.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Therefore, there is a need for a system that can detect hazardous roads and automatically generate a safe alternate evacuation route using real road-network data.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>
              <a:solidFill>
                <a:srgbClr val="5F697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502795" y="7384677"/>
            <a:ext cx="1115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630900" y="1092775"/>
            <a:ext cx="11801400" cy="4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Natural disasters such as floods and road blockages can make regular routes unsafe.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During emergencies, people need to reach safe locations quickly and efficiently.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Manually searching for alternate routes can cause delay and confusion.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This motivated us to develop a system that can automatically detect hazardous roads and find a safe alternate route.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The project aims to support faster and safer emergency evacuation using A* Search and real road-network data.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2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518157" y="6734152"/>
            <a:ext cx="1115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411480" y="894735"/>
            <a:ext cx="10789800" cy="5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✓ To develop an </a:t>
            </a:r>
            <a:r>
              <a:rPr b="1"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AI-powered emergency evacuation route planning system</a:t>
            </a: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for Chennai.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✓ To use </a:t>
            </a:r>
            <a:r>
              <a:rPr b="1"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OpenStreetMap road-network data</a:t>
            </a: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to represent real-world roads as a graph.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✓ To implement the </a:t>
            </a:r>
            <a:r>
              <a:rPr b="1"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A* Search Algorithm</a:t>
            </a: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for efficient route planning between selected locations.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✓ To identify and avoid </a:t>
            </a:r>
            <a:r>
              <a:rPr b="1"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blocked, flooded, and hazardous road segments</a:t>
            </a: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during route calculation.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✓ To automatically generate a </a:t>
            </a:r>
            <a:r>
              <a:rPr b="1"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safe alternate route</a:t>
            </a: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when the original route becomes unsafe.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✓ To provide an </a:t>
            </a:r>
            <a:r>
              <a:rPr b="1"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interactive map-based interface</a:t>
            </a:r>
            <a:r>
              <a:rPr lang="en-IN" sz="2200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for selecting locations and visualizing evacuation routes.</a:t>
            </a:r>
            <a:endParaRPr sz="22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800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6"/>
          <p:cNvGraphicFramePr/>
          <p:nvPr/>
        </p:nvGraphicFramePr>
        <p:xfrm>
          <a:off x="41148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{DED35DD4-EE6B-4212-968B-491B1F9D5AAB}</a:tableStyleId>
              </a:tblPr>
              <a:tblGrid>
                <a:gridCol w="640075"/>
                <a:gridCol w="1957100"/>
                <a:gridCol w="2523450"/>
                <a:gridCol w="2926075"/>
                <a:gridCol w="3291850"/>
              </a:tblGrid>
              <a:tr h="109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S.No.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Author &amp; Year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/>
                        <a:t>Method / Technique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Key Findings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IN" sz="1200" u="none" cap="none" strike="noStrike">
                          <a:solidFill>
                            <a:srgbClr val="5F6973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Alexandros Gaitanias et al., 2023</a:t>
                      </a:r>
                      <a:endParaRPr sz="14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Floor-plan graph generation + Dijkstra's Algorithm</a:t>
                      </a:r>
                      <a:endParaRPr sz="16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Finds the shortest evacuation path using a graph-based floor plan.</a:t>
                      </a:r>
                      <a:endParaRPr sz="16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Mainly focuses on shortest path; less suitable for changing emergency conditions.</a:t>
                      </a:r>
                      <a:endParaRPr sz="16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IN" sz="1200" u="none" cap="none" strike="noStrike">
                          <a:solidFill>
                            <a:srgbClr val="5F6973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Ping Huang et al., 2024</a:t>
                      </a:r>
                      <a:endParaRPr sz="16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Multi-Criteria Decision Making</a:t>
                      </a:r>
                      <a:endParaRPr sz="16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Selects suitable evacuation routes by considering multiple emergency factors.</a:t>
                      </a:r>
                      <a:endParaRPr sz="16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More complex decision-making and may require more input information.</a:t>
                      </a:r>
                      <a:endParaRPr sz="16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IN" sz="1200" u="none" cap="none" strike="noStrike">
                          <a:solidFill>
                            <a:srgbClr val="5F6973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Various Authors, 2023</a:t>
                      </a:r>
                      <a:endParaRPr sz="14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Intelligent Route Planning</a:t>
                      </a:r>
                      <a:endParaRPr sz="14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Provides adaptable routes to support safe emergency evacuation.</a:t>
                      </a:r>
                      <a:endParaRPr sz="14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lang="en-IN" sz="1600" u="none" cap="none" strike="noStrike">
                          <a:solidFill>
                            <a:srgbClr val="5F6973"/>
                          </a:solidFill>
                        </a:rPr>
                        <a:t>May have limited dynamic route recalculation for newly blocked roads.</a:t>
                      </a:r>
                      <a:endParaRPr sz="14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640080" y="771875"/>
            <a:ext cx="5303400" cy="6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Existing Approach: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Uses normal map-based route planning.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Provides the shortest route to the destination.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Technologies / Algorithms: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Digital Maps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Dijkstra / shortest-path algorithms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Advantages: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Easy to use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Fast route calculation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Easily available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Cannot handle sudden road blocks effectively.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Does not dynamically avoid flooded/hazardous roads.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Route may become unsafe during emergencies.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355075" y="1142990"/>
            <a:ext cx="4846200" cy="3474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[Existing System Diagram / Screenshot]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17945" y="6739977"/>
            <a:ext cx="1115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75" y="1143000"/>
            <a:ext cx="4846200" cy="3474600"/>
          </a:xfrm>
          <a:prstGeom prst="rect">
            <a:avLst/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502925" y="775500"/>
            <a:ext cx="5440500" cy="6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Arial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A* Search Algorithm</a:t>
            </a: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Arial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OpenStreetMap</a:t>
            </a: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for Chennai roads.</a:t>
            </a:r>
            <a:endParaRPr i="0" sz="16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Avoids blocked and flooded roads.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Hazard detection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Safe alternate route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Interactive map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Emergency route planning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Avoids unsafe roads.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Finds an alternate route automatically.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Provides route visually on the map.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b="1"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Safe evacuation route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Faster route planning</a:t>
            </a:r>
            <a:endParaRPr i="0" sz="17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00"/>
              <a:buFont typeface="Calibri"/>
              <a:buChar char="●"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Reduced risk during emergencies</a:t>
            </a:r>
            <a:endParaRPr i="0" sz="21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038275" y="1198725"/>
            <a:ext cx="5631000" cy="34746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[Proposed System Diagram]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640070" y="7373702"/>
            <a:ext cx="1115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425" y="1198725"/>
            <a:ext cx="5806626" cy="3616400"/>
          </a:xfrm>
          <a:prstGeom prst="rect">
            <a:avLst/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 / Block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731520" y="3931920"/>
            <a:ext cx="10698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-IN" sz="17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The system takes the selected locations and hazard information as input. The Chennai road network is obtained from OpenStreetMap and the locations are mapped to road nodes. The A* Search Algorithm then calculates a safe route while avoiding hazardous roads. Finally, the selected safe evacuation route is displayed on an interactive map. 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9"/>
          <p:cNvPicPr preferRelativeResize="0"/>
          <p:nvPr/>
        </p:nvPicPr>
        <p:blipFill rotWithShape="1">
          <a:blip r:embed="rId3">
            <a:alphaModFix/>
          </a:blip>
          <a:srcRect b="11795" l="1552" r="0" t="0"/>
          <a:stretch/>
        </p:blipFill>
        <p:spPr>
          <a:xfrm>
            <a:off x="645795" y="962660"/>
            <a:ext cx="10056495" cy="2969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40080" y="12344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1.Chennai road network, selected locations, hazard data.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434840" y="12344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2. Road network preparation and location-to-node mapping.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8229600" y="12344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3. Road nodes, road distances, and hazard information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40080" y="32918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4. A* Search Algorithm with hazard avoidance.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434840" y="32918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5. Route distance, number of nodes, and safe route availability.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8229600" y="32918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6. Safe evacuation route displayed on an interactive web map.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685795" y="1157775"/>
            <a:ext cx="10515600" cy="4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Programming Language: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Python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Framework / Library: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Flask, OSMnx, NetworkX, Leaflet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Database: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CSV Files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Tools / IDE: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VS Code, PowerShell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Hardware: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Laptop/Desktop with Internet Connection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AI Technique: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A* (A-Star) Search Algorithm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Map Data: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OpenStreetMap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Routing: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Safe alternate route planning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Hazard Handling:</a:t>
            </a:r>
            <a:r>
              <a:rPr i="0" lang="en-IN" sz="1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Blocked and flooded roads </a:t>
            </a:r>
            <a:endParaRPr i="0" sz="19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731520" y="109728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Module 1-OSM Road Network &amp; Location Handling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309359" y="109728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r>
              <a:rPr b="1" i="1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-A*Route Planning</a:t>
            </a: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2000" u="none" cap="none" strike="noStrike">
              <a:solidFill>
                <a:srgbClr val="3465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31520" y="2606039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Module 3 – Hazard Detection &amp; Rerouting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309359" y="2606039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Module 4 – Map Visualization &amp; Web Server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731520" y="411480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Module 5 – Emergency Route Output &amp; Evaluation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Preliminary / Expected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40080" y="1143000"/>
            <a:ext cx="5303520" cy="42062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[Insert Graph / Chart]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263640" y="1143000"/>
            <a:ext cx="5303520" cy="42062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3465A4"/>
                </a:solidFill>
                <a:latin typeface="Calibri"/>
                <a:ea typeface="Calibri"/>
                <a:cs typeface="Calibri"/>
                <a:sym typeface="Calibri"/>
              </a:rPr>
              <a:t>[Insert Screenshot / Table]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00" y="1076825"/>
            <a:ext cx="5553099" cy="435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3650" y="1143000"/>
            <a:ext cx="5728974" cy="4351476"/>
          </a:xfrm>
          <a:prstGeom prst="rect">
            <a:avLst/>
          </a:prstGeom>
          <a:solidFill>
            <a:srgbClr val="F2F6FA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Schedule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4" name="Google Shape;294;p14"/>
          <p:cNvGraphicFramePr/>
          <p:nvPr/>
        </p:nvGraphicFramePr>
        <p:xfrm>
          <a:off x="59436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{DED35DD4-EE6B-4212-968B-491B1F9D5AAB}</a:tableStyleId>
              </a:tblPr>
              <a:tblGrid>
                <a:gridCol w="2194550"/>
                <a:gridCol w="2194550"/>
                <a:gridCol w="2194550"/>
                <a:gridCol w="2194550"/>
                <a:gridCol w="2194550"/>
              </a:tblGrid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Month 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Month 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Month 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IN" sz="1300" u="none" cap="none" strike="noStrike">
                          <a:solidFill>
                            <a:srgbClr val="FFFFFF"/>
                          </a:solidFill>
                        </a:rPr>
                        <a:t>Month 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Literature Survey</a:t>
                      </a:r>
                      <a:endParaRPr sz="1400" u="none" cap="none" strike="noStrike">
                        <a:solidFill>
                          <a:srgbClr val="5F697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Problem Identification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System Design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Implementation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/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/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Testing &amp; Evaluation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/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cap="none" strike="noStrike">
                          <a:solidFill>
                            <a:srgbClr val="5F6973"/>
                          </a:solidFill>
                        </a:rPr>
                        <a:t>[✓ / 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822960" y="1143000"/>
            <a:ext cx="10515600" cy="3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✓ Literature survey and existing system study completed</a:t>
            </a:r>
            <a:br>
              <a:rPr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Problem identification and requirement analysis completed</a:t>
            </a:r>
            <a:br>
              <a:rPr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OSM-based Chennai road network successfully created</a:t>
            </a:r>
            <a:br>
              <a:rPr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</a:t>
            </a:r>
            <a:r>
              <a:rPr b="1" lang="en-IN" sz="2200">
                <a:solidFill>
                  <a:srgbClr val="5F6973"/>
                </a:solidFill>
              </a:rPr>
              <a:t>Module 1 – OSM Road Network &amp; Location Handling completed</a:t>
            </a:r>
            <a:br>
              <a:rPr b="1"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</a:t>
            </a:r>
            <a:r>
              <a:rPr b="1" lang="en-IN" sz="2200">
                <a:solidFill>
                  <a:srgbClr val="5F6973"/>
                </a:solidFill>
              </a:rPr>
              <a:t>Module 2 – A* Route Planning completed</a:t>
            </a:r>
            <a:br>
              <a:rPr b="1"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</a:t>
            </a:r>
            <a:r>
              <a:rPr b="1" lang="en-IN" sz="2200">
                <a:solidFill>
                  <a:srgbClr val="5F6973"/>
                </a:solidFill>
              </a:rPr>
              <a:t>Module 3 – Hazard Detection &amp; Rerouting completed</a:t>
            </a:r>
            <a:br>
              <a:rPr b="1"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Blocked and flooded road scenarios tested</a:t>
            </a:r>
            <a:br>
              <a:rPr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Alternate safe route generation successfully verified</a:t>
            </a:r>
            <a:br>
              <a:rPr lang="en-IN" sz="2200">
                <a:solidFill>
                  <a:srgbClr val="5F6973"/>
                </a:solidFill>
              </a:rPr>
            </a:br>
            <a:r>
              <a:rPr lang="en-IN" sz="2200">
                <a:solidFill>
                  <a:srgbClr val="5F6973"/>
                </a:solidFill>
              </a:rPr>
              <a:t>✓ Initial system testing completed</a:t>
            </a:r>
            <a:endParaRPr sz="2200">
              <a:solidFill>
                <a:srgbClr val="5F6973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502920" y="917075"/>
            <a:ext cx="10515600" cy="3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☐ Complete </a:t>
            </a:r>
            <a:r>
              <a:rPr b="1" lang="en-IN" sz="2200">
                <a:solidFill>
                  <a:srgbClr val="5F6973"/>
                </a:solidFill>
              </a:rPr>
              <a:t>Module 4 – Map Visualization &amp; Web Server</a:t>
            </a:r>
            <a:endParaRPr b="1" sz="2200">
              <a:solidFill>
                <a:srgbClr val="5F6973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☐ Integrate route, location and hazard information into the interactive map</a:t>
            </a:r>
            <a:endParaRPr sz="2200">
              <a:solidFill>
                <a:srgbClr val="5F6973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☐ Complete </a:t>
            </a:r>
            <a:r>
              <a:rPr b="1" lang="en-IN" sz="2200">
                <a:solidFill>
                  <a:srgbClr val="5F6973"/>
                </a:solidFill>
              </a:rPr>
              <a:t>Module 5 – Emergency Route Output &amp; Evaluation</a:t>
            </a:r>
            <a:endParaRPr b="1" sz="2200">
              <a:solidFill>
                <a:srgbClr val="5F6973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☐ Display final evacuation route details and route information</a:t>
            </a:r>
            <a:endParaRPr sz="2200">
              <a:solidFill>
                <a:srgbClr val="5F6973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☐ Test the system with different source, destination and hazard scenarios</a:t>
            </a:r>
            <a:endParaRPr sz="2200">
              <a:solidFill>
                <a:srgbClr val="5F6973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☐ Evaluate the effectiveness of alternate route generation</a:t>
            </a:r>
            <a:endParaRPr sz="2200">
              <a:solidFill>
                <a:srgbClr val="5F6973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solidFill>
                  <a:srgbClr val="5F6973"/>
                </a:solidFill>
              </a:rPr>
              <a:t>☐ Prepare final documentation and live demonstration </a:t>
            </a:r>
            <a:endParaRPr sz="3300">
              <a:solidFill>
                <a:srgbClr val="5F697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685795" y="1260100"/>
            <a:ext cx="10515600" cy="4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21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he proposed system successfully combines </a:t>
            </a:r>
            <a:r>
              <a:rPr b="1"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OpenStreetMap road data and the A* Search Algorithm</a:t>
            </a:r>
            <a:r>
              <a:rPr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to plan emergency evacuation routes. It maps selected locations to the road network and calculates a suitable route between the source and destination.</a:t>
            </a:r>
            <a:endParaRPr i="0" sz="22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The system also considers </a:t>
            </a:r>
            <a:r>
              <a:rPr b="1"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hazard information such as blocked roads</a:t>
            </a:r>
            <a:r>
              <a:rPr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 and removes hazardous roads from the routing network. This allows the system to generate an alternate safe route when the normal route is affected.</a:t>
            </a:r>
            <a:endParaRPr i="0" sz="22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Finally, the generated route is displayed through an </a:t>
            </a:r>
            <a:r>
              <a:rPr b="1"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interactive web map</a:t>
            </a:r>
            <a:r>
              <a:rPr i="0" lang="en-IN" sz="22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 Thus, the system provides a simple approach for visualizing safe evacuation routes during emergency situations.</a:t>
            </a:r>
            <a:endParaRPr i="0" sz="22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rgbClr val="5F6973"/>
              </a:solidFill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I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731520" y="1143000"/>
            <a:ext cx="10515600" cy="56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[1] OpenStreetMap Foundation, “OpenStreetMap,” </a:t>
            </a:r>
            <a:r>
              <a:rPr b="1"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2004</a:t>
            </a: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I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https://www.openstreetmap.org/</a:t>
            </a:r>
            <a:endParaRPr i="0" sz="160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[2] Boeing, G., “OSMnx: New Methods for Acquiring, Constructing, Analyzing, and Visualizing Complex Street Networks,” </a:t>
            </a:r>
            <a:r>
              <a:rPr b="1"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I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https://osmnx.readthedocs.io/</a:t>
            </a:r>
            <a:endParaRPr i="0" sz="160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[3] NetworkX Developers, “NetworkX Documentation,” </a:t>
            </a:r>
            <a:r>
              <a:rPr b="1"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2005</a:t>
            </a: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I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https://networkx.org/</a:t>
            </a:r>
            <a:endParaRPr i="0" sz="160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[4] Python Software Foundation, “Python Documentation,” </a:t>
            </a:r>
            <a:r>
              <a:rPr b="1"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1991</a:t>
            </a: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I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https://docs.python.org/3/</a:t>
            </a:r>
            <a:endParaRPr i="0" sz="160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[5] Pallets Projects, “Flask Documentation,” </a:t>
            </a:r>
            <a:r>
              <a:rPr b="1"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2010</a:t>
            </a: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i="0" lang="en-I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I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https://flask.palletsprojects.com/</a:t>
            </a:r>
            <a:endParaRPr i="0" sz="160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[6] Volodymyr Agafonkin, “Leaflet – JavaScript Library for Interactive Maps,” </a:t>
            </a:r>
            <a:r>
              <a:rPr b="1"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i="0" lang="en-I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I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https://leafletjs.com/</a:t>
            </a:r>
            <a:endParaRPr i="0" sz="160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[7] P. E. Hart, N. J. Nilsson, and B. Raphael, “A Formal Basis for the Heuristic Determination of Minimum Cost Paths,” IEEE Transactions on Systems Science and Cybernetics, </a:t>
            </a:r>
            <a:r>
              <a:rPr b="1"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1968</a:t>
            </a:r>
            <a:r>
              <a:rPr i="0" lang="en-IN" sz="16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16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5F69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IN" sz="900" u="none" cap="none" strike="noStrike">
                <a:solidFill>
                  <a:srgbClr val="5F6973"/>
                </a:solidFill>
                <a:latin typeface="Calibri"/>
                <a:ea typeface="Calibri"/>
                <a:cs typeface="Calibri"/>
                <a:sym typeface="Calibri"/>
              </a:rPr>
              <a:t>[Department]  |  Project Review – 1  |  [Academic Year]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2026-09-25T15:35:14Z</dcterms:created>
  <dc:creator>HP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21D62EB31B444F79A5C65D0F8114B7AE_13</vt:lpwstr>
  </property>
</Properties>
</file>